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Texte niveau 1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éro de diapositive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Texte niveau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Texte niveau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 niveau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Texte niveau 1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Texte niveau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Texte niveau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ensibilisation à l’hygiène     Groupe : TP 2.2"/>
          <p:cNvSpPr txBox="1"/>
          <p:nvPr>
            <p:ph type="ctrTitle"/>
          </p:nvPr>
        </p:nvSpPr>
        <p:spPr>
          <a:xfrm>
            <a:off x="234249" y="9810139"/>
            <a:ext cx="24226622" cy="1885397"/>
          </a:xfrm>
          <a:prstGeom prst="rect">
            <a:avLst/>
          </a:prstGeom>
        </p:spPr>
        <p:txBody>
          <a:bodyPr/>
          <a:lstStyle/>
          <a:p>
            <a:pPr marR="457200" defTabSz="450215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 spc="0" sz="9300">
                <a:latin typeface="Red Hat Display Light"/>
                <a:ea typeface="Red Hat Display Light"/>
                <a:cs typeface="Red Hat Display Light"/>
                <a:sym typeface="Red Hat Display Light"/>
              </a:defRPr>
            </a:pPr>
            <a:r>
              <a:t>sensibilisation à l’hygiène     </a:t>
            </a:r>
            <a:r>
              <a:rPr>
                <a:latin typeface="Ubuntu Light"/>
                <a:ea typeface="Ubuntu Light"/>
                <a:cs typeface="Ubuntu Light"/>
                <a:sym typeface="Ubuntu Light"/>
              </a:rPr>
              <a:t>Groupe : TP 2.2 </a:t>
            </a:r>
          </a:p>
        </p:txBody>
      </p:sp>
      <p:sp>
        <p:nvSpPr>
          <p:cNvPr id="172" name="Rectangle"/>
          <p:cNvSpPr/>
          <p:nvPr/>
        </p:nvSpPr>
        <p:spPr>
          <a:xfrm>
            <a:off x="-12761" y="20052"/>
            <a:ext cx="24409522" cy="975807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3" name="Lot A : Mot de passe"/>
          <p:cNvSpPr txBox="1"/>
          <p:nvPr/>
        </p:nvSpPr>
        <p:spPr>
          <a:xfrm>
            <a:off x="12926298" y="12387253"/>
            <a:ext cx="11372218" cy="1916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R="457200" defTabSz="450215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500">
                <a:latin typeface="Quicksand Light"/>
                <a:ea typeface="Quicksand Light"/>
                <a:cs typeface="Quicksand Light"/>
                <a:sym typeface="Quicksand Light"/>
              </a:defRPr>
            </a:lvl1pPr>
          </a:lstStyle>
          <a:p>
            <a:pPr/>
            <a:r>
              <a:t>Lot A : Mot de passe</a:t>
            </a:r>
          </a:p>
        </p:txBody>
      </p:sp>
      <p:sp>
        <p:nvSpPr>
          <p:cNvPr id="174" name="SAÉ 1.1"/>
          <p:cNvSpPr txBox="1"/>
          <p:nvPr/>
        </p:nvSpPr>
        <p:spPr>
          <a:xfrm>
            <a:off x="-42123" y="7149229"/>
            <a:ext cx="6228458" cy="262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700">
                <a:solidFill>
                  <a:srgbClr val="000000"/>
                </a:solidFill>
                <a:latin typeface="SF Compact Text Ultralight"/>
                <a:ea typeface="SF Compact Text Ultralight"/>
                <a:cs typeface="SF Compact Text Ultralight"/>
                <a:sym typeface="SF Compact Text Ultralight"/>
              </a:defRPr>
            </a:lvl1pPr>
          </a:lstStyle>
          <a:p>
            <a:pPr/>
            <a:r>
              <a:t>SAÉ 1.1</a:t>
            </a:r>
          </a:p>
        </p:txBody>
      </p:sp>
      <p:pic>
        <p:nvPicPr>
          <p:cNvPr id="175" name="LOGO-UNICAEN_V-2.1-N.png" descr="LOGO-UNICAEN_V-2.1-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957161" y="169960"/>
            <a:ext cx="7264430" cy="4098057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info. et à la cybersécu"/>
          <p:cNvSpPr txBox="1"/>
          <p:nvPr/>
        </p:nvSpPr>
        <p:spPr>
          <a:xfrm>
            <a:off x="78689" y="11737347"/>
            <a:ext cx="11593222" cy="1885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marR="452627" defTabSz="445712">
              <a:lnSpc>
                <a:spcPct val="100000"/>
              </a:lnSpc>
              <a:spcBef>
                <a:spcPts val="0"/>
              </a:spcBef>
              <a:tabLst>
                <a:tab pos="342900" algn="l"/>
                <a:tab pos="698500" algn="l"/>
                <a:tab pos="1054100" algn="l"/>
                <a:tab pos="1397000" algn="l"/>
                <a:tab pos="1752600" algn="l"/>
                <a:tab pos="2108200" algn="l"/>
                <a:tab pos="2463800" algn="l"/>
                <a:tab pos="2806700" algn="l"/>
                <a:tab pos="3162300" algn="l"/>
                <a:tab pos="3517900" algn="l"/>
                <a:tab pos="3860800" algn="l"/>
                <a:tab pos="4216400" algn="l"/>
              </a:tabLst>
              <a:defRPr sz="9207">
                <a:latin typeface="Red Hat Display Light"/>
                <a:ea typeface="Red Hat Display Light"/>
                <a:cs typeface="Red Hat Display Light"/>
                <a:sym typeface="Red Hat Display Light"/>
              </a:defRPr>
            </a:lvl1pPr>
          </a:lstStyle>
          <a:p>
            <a:pPr/>
            <a:r>
              <a:t> info. et à la cybersécu</a:t>
            </a:r>
          </a:p>
        </p:txBody>
      </p:sp>
      <p:sp>
        <p:nvSpPr>
          <p:cNvPr id="177" name="Ligne"/>
          <p:cNvSpPr/>
          <p:nvPr/>
        </p:nvSpPr>
        <p:spPr>
          <a:xfrm flipV="1">
            <a:off x="11796411" y="10482018"/>
            <a:ext cx="1641567" cy="2861017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Class="exit" nodeType="afterEffect" presetSubtype="32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1" dur="1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Class="exit" nodeType="afterEffect" presetSubtype="32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6" dur="1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Class="exit" nodeType="afterEffect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21" dur="1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Class="exit" nodeType="afterEffect" presetSubtype="32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Class="exit" nodeType="afterEffect" presetSubtype="32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Class="exit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36" dur="400" fill="hold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6" grpId="4"/>
      <p:bldP build="whole" bldLvl="1" animBg="1" rev="0" advAuto="0" spid="171" grpId="3"/>
      <p:bldP build="whole" bldLvl="1" animBg="1" rev="0" advAuto="0" spid="177" grpId="5"/>
      <p:bldP build="whole" bldLvl="1" animBg="1" rev="0" advAuto="0" spid="175" grpId="1"/>
      <p:bldP build="whole" bldLvl="1" animBg="1" rev="0" advAuto="0" spid="172" grpId="7"/>
      <p:bldP build="whole" bldLvl="1" animBg="1" rev="0" advAuto="0" spid="174" grpId="2"/>
      <p:bldP build="whole" bldLvl="1" animBg="1" rev="0" advAuto="0" spid="173" grpId="6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ommaire"/>
          <p:cNvSpPr txBox="1"/>
          <p:nvPr>
            <p:ph type="title"/>
          </p:nvPr>
        </p:nvSpPr>
        <p:spPr>
          <a:xfrm>
            <a:off x="1206500" y="952500"/>
            <a:ext cx="21971000" cy="1584394"/>
          </a:xfrm>
          <a:prstGeom prst="rect">
            <a:avLst/>
          </a:prstGeom>
        </p:spPr>
        <p:txBody>
          <a:bodyPr/>
          <a:lstStyle/>
          <a:p>
            <a:pPr defTabSz="2340805">
              <a:defRPr b="0" spc="-163" sz="8160">
                <a:latin typeface="Red Hat Display Light Black"/>
                <a:ea typeface="Red Hat Display Light Black"/>
                <a:cs typeface="Red Hat Display Light Black"/>
                <a:sym typeface="Red Hat Display Light Black"/>
              </a:defRPr>
            </a:pPr>
            <a:r>
              <a:rPr spc="-176" sz="8832"/>
              <a:t>Sommaire</a:t>
            </a:r>
            <a:r>
              <a:t> </a:t>
            </a:r>
          </a:p>
        </p:txBody>
      </p:sp>
      <p:sp>
        <p:nvSpPr>
          <p:cNvPr id="180" name="Bonnes pratiques pour des mots de passe…"/>
          <p:cNvSpPr txBox="1"/>
          <p:nvPr>
            <p:ph type="body" idx="1"/>
          </p:nvPr>
        </p:nvSpPr>
        <p:spPr>
          <a:xfrm>
            <a:off x="1206500" y="2820286"/>
            <a:ext cx="21971000" cy="9684230"/>
          </a:xfrm>
          <a:prstGeom prst="rect">
            <a:avLst/>
          </a:prstGeom>
        </p:spPr>
        <p:txBody>
          <a:bodyPr/>
          <a:lstStyle/>
          <a:p>
            <a:pPr marL="415636" indent="-415636" defTabSz="457200">
              <a:lnSpc>
                <a:spcPct val="120000"/>
              </a:lnSpc>
              <a:spcBef>
                <a:spcPts val="0"/>
              </a:spcBef>
              <a:buSzPct val="100000"/>
              <a:buAutoNum type="romanUcPeriod" startAt="1"/>
              <a:defRPr sz="860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pPr>
            <a:r>
              <a:t>Bonnes pratiques pour des mots de passe </a:t>
            </a:r>
          </a:p>
          <a:p>
            <a:pPr marL="415636" indent="-415636" defTabSz="457200">
              <a:lnSpc>
                <a:spcPct val="120000"/>
              </a:lnSpc>
              <a:spcBef>
                <a:spcPts val="0"/>
              </a:spcBef>
              <a:buSzPct val="100000"/>
              <a:buAutoNum type="romanUcPeriod" startAt="1"/>
              <a:defRPr sz="860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pPr>
            <a:r>
              <a:t>Attaques par force brute &amp; dictionnaire </a:t>
            </a:r>
          </a:p>
          <a:p>
            <a:pPr marL="415636" indent="-415636" defTabSz="457200">
              <a:lnSpc>
                <a:spcPct val="120000"/>
              </a:lnSpc>
              <a:spcBef>
                <a:spcPts val="0"/>
              </a:spcBef>
              <a:buSzPct val="100000"/>
              <a:buAutoNum type="romanUcPeriod" startAt="1"/>
              <a:defRPr sz="860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pPr>
            <a:r>
              <a:t>Gestionnaires de mots de passe </a:t>
            </a:r>
          </a:p>
          <a:p>
            <a:pPr marL="415636" indent="-415636" defTabSz="457200">
              <a:lnSpc>
                <a:spcPct val="120000"/>
              </a:lnSpc>
              <a:spcBef>
                <a:spcPts val="0"/>
              </a:spcBef>
              <a:buSzPct val="100000"/>
              <a:buAutoNum type="romanUcPeriod" startAt="1"/>
              <a:defRPr sz="860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pPr>
            <a:r>
              <a:t>Logiciels disponibles sur Debian</a:t>
            </a:r>
          </a:p>
          <a:p>
            <a:pPr marL="415636" indent="-415636" defTabSz="457200">
              <a:lnSpc>
                <a:spcPct val="120000"/>
              </a:lnSpc>
              <a:spcBef>
                <a:spcPts val="0"/>
              </a:spcBef>
              <a:buSzPct val="100000"/>
              <a:buAutoNum type="romanUcPeriod" startAt="1"/>
              <a:defRPr sz="860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pPr>
            <a:r>
              <a:t>Les 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Bonnes pratiques pour des mots de passe"/>
          <p:cNvSpPr txBox="1"/>
          <p:nvPr>
            <p:ph type="ctrTitle"/>
          </p:nvPr>
        </p:nvSpPr>
        <p:spPr>
          <a:xfrm>
            <a:off x="444496" y="-464942"/>
            <a:ext cx="18739450" cy="4010225"/>
          </a:xfrm>
          <a:prstGeom prst="rect">
            <a:avLst/>
          </a:prstGeom>
        </p:spPr>
        <p:txBody>
          <a:bodyPr/>
          <a:lstStyle>
            <a:lvl1pPr defTabSz="411479">
              <a:lnSpc>
                <a:spcPct val="120000"/>
              </a:lnSpc>
              <a:defRPr b="0" spc="0" sz="774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Bonnes pratiques pour des mots de passe </a:t>
            </a:r>
          </a:p>
        </p:txBody>
      </p:sp>
      <p:sp>
        <p:nvSpPr>
          <p:cNvPr id="183" name="La longueur compte-t-elle vraiment ?…"/>
          <p:cNvSpPr txBox="1"/>
          <p:nvPr/>
        </p:nvSpPr>
        <p:spPr>
          <a:xfrm>
            <a:off x="577771" y="3713056"/>
            <a:ext cx="19694153" cy="711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1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La longueur compte-t-elle vraiment ?</a:t>
            </a:r>
          </a:p>
          <a:p>
            <a:pPr>
              <a:defRPr sz="61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 </a:t>
            </a:r>
          </a:p>
          <a:p>
            <a:pPr>
              <a:defRPr sz="61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Attaque locale ultra rapide à 10¹⁰essais/s</a:t>
            </a:r>
          </a:p>
          <a:p>
            <a:pPr marL="520700" indent="-520700">
              <a:buSzPct val="123000"/>
              <a:buChar char="•"/>
              <a:defRPr sz="61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8 lettre minuscules (26, l=8),  10s</a:t>
            </a:r>
          </a:p>
          <a:p>
            <a:pPr marL="520700" indent="-520700">
              <a:buSzPct val="123000"/>
              <a:buChar char="•"/>
              <a:defRPr sz="61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16 alphanumériques (62, L=16), ~ 75 584 097 074 ans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Bonnes pratiques pour des mots de passe"/>
          <p:cNvSpPr txBox="1"/>
          <p:nvPr>
            <p:ph type="ctrTitle"/>
          </p:nvPr>
        </p:nvSpPr>
        <p:spPr>
          <a:xfrm>
            <a:off x="444496" y="-464942"/>
            <a:ext cx="18739450" cy="4010225"/>
          </a:xfrm>
          <a:prstGeom prst="rect">
            <a:avLst/>
          </a:prstGeom>
        </p:spPr>
        <p:txBody>
          <a:bodyPr/>
          <a:lstStyle>
            <a:lvl1pPr defTabSz="411479">
              <a:lnSpc>
                <a:spcPct val="120000"/>
              </a:lnSpc>
              <a:defRPr b="0" spc="0" sz="774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Bonnes pratiques pour des mots de passe </a:t>
            </a:r>
          </a:p>
        </p:txBody>
      </p:sp>
      <p:sp>
        <p:nvSpPr>
          <p:cNvPr id="186" name="la longueur: visez ≥ 12  ou ≥ 16–20 caractère pour les comptes sensibles.…"/>
          <p:cNvSpPr txBox="1"/>
          <p:nvPr/>
        </p:nvSpPr>
        <p:spPr>
          <a:xfrm>
            <a:off x="340704" y="3638126"/>
            <a:ext cx="20702301" cy="848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584200" indent="-584200">
              <a:buSzPct val="123000"/>
              <a:buChar char="•"/>
              <a:defRPr sz="4600">
                <a:latin typeface="Exo Regular Medium"/>
                <a:ea typeface="Exo Regular Medium"/>
                <a:cs typeface="Exo Regular Medium"/>
                <a:sym typeface="Exo Regular Medium"/>
              </a:defRPr>
            </a:pPr>
            <a:r>
              <a:t>   la longueur: visez ≥ 12  ou ≥ 16–20 caractère pour les comptes sensibles.</a:t>
            </a:r>
          </a:p>
          <a:p>
            <a:pPr>
              <a:defRPr sz="4600">
                <a:latin typeface="Exo Regular Medium"/>
                <a:ea typeface="Exo Regular Medium"/>
                <a:cs typeface="Exo Regular Medium"/>
                <a:sym typeface="Exo Regular Medium"/>
              </a:defRPr>
            </a:pPr>
            <a:r>
              <a:t>•     Phrases de passes aléatoires &gt; mot de passe courts « compliqués ».</a:t>
            </a:r>
          </a:p>
          <a:p>
            <a:pPr>
              <a:defRPr sz="4600">
                <a:latin typeface="Exo Regular Medium"/>
                <a:ea typeface="Exo Regular Medium"/>
                <a:cs typeface="Exo Regular Medium"/>
                <a:sym typeface="Exo Regular Medium"/>
              </a:defRPr>
            </a:pPr>
            <a:r>
              <a:t>•     Unique par service</a:t>
            </a:r>
          </a:p>
          <a:p>
            <a:pPr>
              <a:defRPr sz="4600">
                <a:latin typeface="Exo Regular Medium"/>
                <a:ea typeface="Exo Regular Medium"/>
                <a:cs typeface="Exo Regular Medium"/>
                <a:sym typeface="Exo Regular Medium"/>
              </a:defRPr>
            </a:pPr>
            <a:r>
              <a:t>•     Gestionnaire de mots de passe</a:t>
            </a:r>
          </a:p>
          <a:p>
            <a:pPr>
              <a:defRPr sz="4600">
                <a:latin typeface="Exo Regular Medium"/>
                <a:ea typeface="Exo Regular Medium"/>
                <a:cs typeface="Exo Regular Medium"/>
                <a:sym typeface="Exo Regular Medium"/>
              </a:defRPr>
            </a:pPr>
            <a:r>
              <a:t>•     MFA/2FA  (appli TOTP ou clé FIDO2)</a:t>
            </a:r>
          </a:p>
          <a:p>
            <a:pPr>
              <a:defRPr sz="4600">
                <a:latin typeface="Exo Regular Medium"/>
                <a:ea typeface="Exo Regular Medium"/>
                <a:cs typeface="Exo Regular Medium"/>
                <a:sym typeface="Exo Regular Medium"/>
              </a:defRPr>
            </a:pPr>
            <a:r>
              <a:t>•     Rotation des mot de passe régulièrement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Bonnes pratiques pour des mots de passe"/>
          <p:cNvSpPr txBox="1"/>
          <p:nvPr>
            <p:ph type="ctrTitle"/>
          </p:nvPr>
        </p:nvSpPr>
        <p:spPr>
          <a:xfrm>
            <a:off x="444496" y="-464942"/>
            <a:ext cx="18739450" cy="4010225"/>
          </a:xfrm>
          <a:prstGeom prst="rect">
            <a:avLst/>
          </a:prstGeom>
        </p:spPr>
        <p:txBody>
          <a:bodyPr/>
          <a:lstStyle>
            <a:lvl1pPr defTabSz="411479">
              <a:lnSpc>
                <a:spcPct val="120000"/>
              </a:lnSpc>
              <a:defRPr b="0" spc="0" sz="774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Bonnes pratiques pour des mots de passe </a:t>
            </a:r>
          </a:p>
        </p:txBody>
      </p:sp>
      <p:sp>
        <p:nvSpPr>
          <p:cNvPr id="189" name="Avantages du renouvellement régulier…"/>
          <p:cNvSpPr txBox="1"/>
          <p:nvPr/>
        </p:nvSpPr>
        <p:spPr>
          <a:xfrm>
            <a:off x="511953" y="2750820"/>
            <a:ext cx="22710954" cy="8976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900">
                <a:latin typeface="Exo Regular Bold"/>
                <a:ea typeface="Exo Regular Bold"/>
                <a:cs typeface="Exo Regular Bold"/>
                <a:sym typeface="Exo Regular Bold"/>
              </a:defRPr>
            </a:pPr>
            <a:r>
              <a:t>Avantages du renouvellement régulier</a:t>
            </a:r>
          </a:p>
          <a:p>
            <a:pPr>
              <a:defRPr sz="64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-Fiabilité : les données, les outils et le matériel restent à jour.</a:t>
            </a:r>
          </a:p>
          <a:p>
            <a:pPr>
              <a:defRPr sz="64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 Sécurité : on évite les incidents liés à des éléments périmés.</a:t>
            </a:r>
          </a:p>
          <a:p>
            <a:pPr>
              <a:defRPr sz="64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 Conformité : on reste dans le cadre légal ou réglementaire.</a:t>
            </a:r>
          </a:p>
          <a:p>
            <a:pPr marL="685799" indent="-685799">
              <a:buSzPct val="123000"/>
              <a:buChar char="-"/>
              <a:defRPr sz="64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Efficacité : on gagne du temps et on évite les urgences </a:t>
            </a:r>
          </a:p>
          <a:p>
            <a:pPr>
              <a:defRPr sz="64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de dernière minute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Bonnes pratiques pour des mots de passe"/>
          <p:cNvSpPr txBox="1"/>
          <p:nvPr>
            <p:ph type="ctrTitle"/>
          </p:nvPr>
        </p:nvSpPr>
        <p:spPr>
          <a:xfrm>
            <a:off x="444496" y="-464942"/>
            <a:ext cx="18739450" cy="4010225"/>
          </a:xfrm>
          <a:prstGeom prst="rect">
            <a:avLst/>
          </a:prstGeom>
        </p:spPr>
        <p:txBody>
          <a:bodyPr/>
          <a:lstStyle>
            <a:lvl1pPr defTabSz="411479">
              <a:lnSpc>
                <a:spcPct val="120000"/>
              </a:lnSpc>
              <a:defRPr b="0" spc="0" sz="774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Bonnes pratiques pour des mots de passe </a:t>
            </a:r>
          </a:p>
        </p:txBody>
      </p:sp>
      <p:sp>
        <p:nvSpPr>
          <p:cNvPr id="192" name="Le Bon renouvellement, c'est la clé…"/>
          <p:cNvSpPr txBox="1"/>
          <p:nvPr/>
        </p:nvSpPr>
        <p:spPr>
          <a:xfrm>
            <a:off x="664353" y="3336290"/>
            <a:ext cx="23284905" cy="8567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900">
                <a:latin typeface="Exo Regular Bold"/>
                <a:ea typeface="Exo Regular Bold"/>
                <a:cs typeface="Exo Regular Bold"/>
                <a:sym typeface="Exo Regular Bold"/>
              </a:defRPr>
            </a:pPr>
            <a:r>
              <a:t>Le Bon renouvellement, c'est la clé</a:t>
            </a:r>
          </a:p>
          <a:p>
            <a:pPr>
              <a:defRPr sz="59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 Repérer : identifier ce qui doit être renouvelé.</a:t>
            </a:r>
          </a:p>
          <a:p>
            <a:pPr>
              <a:defRPr sz="59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-Planifier : noter les dates d'échéance et programmer des rappels.</a:t>
            </a:r>
          </a:p>
          <a:p>
            <a:pPr>
              <a:defRPr sz="59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-Vérifier : toutes les conditions sont bonnes pour le renouvellement.</a:t>
            </a:r>
          </a:p>
          <a:p>
            <a:pPr>
              <a:defRPr sz="59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-Renouveler : faire la démarche.</a:t>
            </a:r>
          </a:p>
          <a:p>
            <a:pPr>
              <a:defRPr sz="5900">
                <a:latin typeface="Exo Regular Regular"/>
                <a:ea typeface="Exo Regular Regular"/>
                <a:cs typeface="Exo Regular Regular"/>
                <a:sym typeface="Exo Regular Regular"/>
              </a:defRPr>
            </a:pPr>
            <a:r>
              <a:t>-Archiver : conserver les preuves du renouvellement.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Moyen Mnémotechnique"/>
          <p:cNvSpPr txBox="1"/>
          <p:nvPr>
            <p:ph type="ctrTitle"/>
          </p:nvPr>
        </p:nvSpPr>
        <p:spPr>
          <a:xfrm>
            <a:off x="571496" y="314391"/>
            <a:ext cx="15819640" cy="1884692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20000"/>
              </a:lnSpc>
              <a:defRPr b="0" spc="0" sz="8600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Moyen Mnémotechnique</a:t>
            </a:r>
          </a:p>
        </p:txBody>
      </p:sp>
      <p:sp>
        <p:nvSpPr>
          <p:cNvPr id="195" name="Première lettre de chaque mot d'une phrase connue:…"/>
          <p:cNvSpPr txBox="1"/>
          <p:nvPr/>
        </p:nvSpPr>
        <p:spPr>
          <a:xfrm>
            <a:off x="479704" y="2735577"/>
            <a:ext cx="18777205" cy="10035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 Première lettre de chaque mot d'une phrase connue:</a:t>
            </a:r>
          </a:p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J’adore les crêpes au chocolat tous les dimanches matin ! = Jlcactldm!</a:t>
            </a:r>
          </a:p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Utiliser une phrase avec des chiffres et des symboles</a:t>
            </a:r>
          </a:p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Mon chien a 3 ans en 2025! = Mc@3ae2025!</a:t>
            </a:r>
          </a:p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Associer un mot de passe à un service:</a:t>
            </a:r>
          </a:p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pour créer un compte Gmail = Mc@3ae2025!G</a:t>
            </a:r>
          </a:p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Mot de passe phonétique</a:t>
            </a:r>
          </a:p>
          <a:p>
            <a: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J’aime les pizzas au fromage = Jm_lé_p1za_o_fr0maj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Attaques par force brute &amp; dictionnaire"/>
          <p:cNvSpPr txBox="1"/>
          <p:nvPr>
            <p:ph type="title"/>
          </p:nvPr>
        </p:nvSpPr>
        <p:spPr>
          <a:xfrm>
            <a:off x="681647" y="1014825"/>
            <a:ext cx="13442802" cy="2973511"/>
          </a:xfrm>
          <a:prstGeom prst="rect">
            <a:avLst/>
          </a:prstGeom>
        </p:spPr>
        <p:txBody>
          <a:bodyPr/>
          <a:lstStyle>
            <a:lvl1pPr defTabSz="384047">
              <a:lnSpc>
                <a:spcPct val="120000"/>
              </a:lnSpc>
              <a:defRPr b="0" spc="0" sz="7643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Attaques par force brute &amp; dictionnaire </a:t>
            </a:r>
          </a:p>
        </p:txBody>
      </p:sp>
      <p:pic>
        <p:nvPicPr>
          <p:cNvPr id="198" name="1*EyxVJbwtfhQ5hZ6R8yH1yQ.png" descr="1*EyxVJbwtfhQ5hZ6R8yH1yQ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83155" y="5723365"/>
            <a:ext cx="15018448" cy="71963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ttaque au dictionnaire"/>
          <p:cNvSpPr txBox="1"/>
          <p:nvPr>
            <p:ph type="title"/>
          </p:nvPr>
        </p:nvSpPr>
        <p:spPr>
          <a:xfrm>
            <a:off x="578297" y="-2747354"/>
            <a:ext cx="9779001" cy="5882274"/>
          </a:xfrm>
          <a:prstGeom prst="rect">
            <a:avLst/>
          </a:prstGeom>
        </p:spPr>
        <p:txBody>
          <a:bodyPr/>
          <a:lstStyle/>
          <a:p>
            <a:pPr/>
            <a:r>
              <a:t>Attaque au dictionnaire </a:t>
            </a:r>
          </a:p>
        </p:txBody>
      </p:sp>
      <p:sp>
        <p:nvSpPr>
          <p:cNvPr id="201" name="&gt; hashcat -m 0 -a 0          dictionary.txt"/>
          <p:cNvSpPr txBox="1"/>
          <p:nvPr/>
        </p:nvSpPr>
        <p:spPr>
          <a:xfrm>
            <a:off x="2458414" y="11777712"/>
            <a:ext cx="18822925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400">
                <a:latin typeface="0xProto Nerd Font Propo"/>
                <a:ea typeface="0xProto Nerd Font Propo"/>
                <a:cs typeface="0xProto Nerd Font Propo"/>
                <a:sym typeface="0xProto Nerd Font Propo"/>
              </a:defRPr>
            </a:lvl1pPr>
          </a:lstStyle>
          <a:p>
            <a:pPr/>
            <a:r>
              <a:t> &gt; hashcat -m 0 -a 0          dictionary.txt</a:t>
            </a:r>
          </a:p>
        </p:txBody>
      </p:sp>
      <p:sp>
        <p:nvSpPr>
          <p:cNvPr id="202" name="Ligne"/>
          <p:cNvSpPr/>
          <p:nvPr/>
        </p:nvSpPr>
        <p:spPr>
          <a:xfrm>
            <a:off x="5777076" y="6338120"/>
            <a:ext cx="5427124" cy="1"/>
          </a:xfrm>
          <a:prstGeom prst="line">
            <a:avLst/>
          </a:prstGeom>
          <a:ln w="152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" name="helloworld"/>
          <p:cNvSpPr txBox="1"/>
          <p:nvPr/>
        </p:nvSpPr>
        <p:spPr>
          <a:xfrm>
            <a:off x="8696292" y="5658670"/>
            <a:ext cx="4217671" cy="135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latin typeface="Red Hat Display Light"/>
                <a:ea typeface="Red Hat Display Light"/>
                <a:cs typeface="Red Hat Display Light"/>
                <a:sym typeface="Red Hat Display Light"/>
              </a:defRPr>
            </a:lvl1pPr>
          </a:lstStyle>
          <a:p>
            <a:pPr/>
            <a:r>
              <a:t>helloworld</a:t>
            </a:r>
          </a:p>
        </p:txBody>
      </p:sp>
      <p:sp>
        <p:nvSpPr>
          <p:cNvPr id="204" name="fc5e038d38a57032085441e7fe7010b0"/>
          <p:cNvSpPr txBox="1"/>
          <p:nvPr/>
        </p:nvSpPr>
        <p:spPr>
          <a:xfrm>
            <a:off x="11748105" y="5919020"/>
            <a:ext cx="12208765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0xProto Nerd Font Propo"/>
                <a:ea typeface="0xProto Nerd Font Propo"/>
                <a:cs typeface="0xProto Nerd Font Propo"/>
                <a:sym typeface="0xProto Nerd Font Propo"/>
              </a:defRPr>
            </a:lvl1pPr>
          </a:lstStyle>
          <a:p>
            <a:pPr/>
            <a:r>
              <a:t>fc5e038d38a57032085441e7fe7010b0</a:t>
            </a:r>
          </a:p>
        </p:txBody>
      </p:sp>
      <p:pic>
        <p:nvPicPr>
          <p:cNvPr id="205" name="607674.png" descr="60767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76294" y="7386552"/>
            <a:ext cx="2475141" cy="2475140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Ligne"/>
          <p:cNvSpPr/>
          <p:nvPr/>
        </p:nvSpPr>
        <p:spPr>
          <a:xfrm>
            <a:off x="11869876" y="3823176"/>
            <a:ext cx="1" cy="3125991"/>
          </a:xfrm>
          <a:prstGeom prst="line">
            <a:avLst/>
          </a:prstGeom>
          <a:ln w="152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7" name="hash.txt"/>
          <p:cNvSpPr txBox="1"/>
          <p:nvPr/>
        </p:nvSpPr>
        <p:spPr>
          <a:xfrm>
            <a:off x="10434066" y="10620562"/>
            <a:ext cx="3515869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400">
                <a:latin typeface="0xProto Nerd Font Propo"/>
                <a:ea typeface="0xProto Nerd Font Propo"/>
                <a:cs typeface="0xProto Nerd Font Propo"/>
                <a:sym typeface="0xProto Nerd Font Propo"/>
              </a:defRPr>
            </a:lvl1pPr>
          </a:lstStyle>
          <a:p>
            <a:pPr/>
            <a:r>
              <a:t>hash.txt</a:t>
            </a:r>
          </a:p>
        </p:txBody>
      </p:sp>
      <p:sp>
        <p:nvSpPr>
          <p:cNvPr id="208" name="hash.txt"/>
          <p:cNvSpPr txBox="1"/>
          <p:nvPr/>
        </p:nvSpPr>
        <p:spPr>
          <a:xfrm>
            <a:off x="10434066" y="10620562"/>
            <a:ext cx="3515869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400">
                <a:latin typeface="0xProto Nerd Font Propo"/>
                <a:ea typeface="0xProto Nerd Font Propo"/>
                <a:cs typeface="0xProto Nerd Font Propo"/>
                <a:sym typeface="0xProto Nerd Font Propo"/>
              </a:defRPr>
            </a:lvl1pPr>
          </a:lstStyle>
          <a:p>
            <a:pPr/>
            <a:r>
              <a:t>hash.txt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336665 0.000263" origin="layout" pathEditMode="relative">
                                      <p:cBhvr>
                                        <p:cTn id="6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Class="entr" nodeType="after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xit" nodeType="clickEffect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Class="exit" nodeType="afterEffect" presetSubtype="32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Class="exit" nodeType="afterEffect" presetSubtype="32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path" nodeType="withEffect" presetSubtype="0" presetID="-1" grpId="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232139 -0.325233" origin="layout" pathEditMode="relative">
                                      <p:cBhvr>
                                        <p:cTn id="32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mph" nodeType="afterEffect" presetSubtype="0" presetID="6" grpId="8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500" fill="hold"/>
                                        <p:tgtEl>
                                          <p:spTgt spid="20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path" nodeType="withEffect" presetSubtype="0" presetID="-1" grpId="9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-0.232139 -0.325233 C -0.231286 -0.324494 -0.231909 -0.322218 -0.232763 -0.322956 C -0.233616 -0.323695 -0.232993 -0.325972 -0.232139 -0.325233" origin="layout" pathEditMode="relative">
                                      <p:cBhvr>
                                        <p:cTn id="38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Class="entr" nodeType="afterEffect" presetSubtype="1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2"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400"/>
                            </p:stCondLst>
                            <p:childTnLst>
                              <p:par>
                                <p:cTn id="44" presetClass="entr" nodeType="after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Class="entr" nodeType="afterEffect" presetSubtype="16" presetID="23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00"/>
                            </p:stCondLst>
                            <p:childTnLst>
                              <p:par>
                                <p:cTn id="54" presetClass="entr" nodeType="afterEffect" presetSubtype="16" presetID="23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path" nodeType="clickEffect" presetSubtype="0" presetID="-1" grpId="1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34295 0.084365" origin="layout" pathEditMode="relative">
                                      <p:cBhvr>
                                        <p:cTn id="61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3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3" grpId="5"/>
      <p:bldP build="whole" bldLvl="1" animBg="1" rev="0" advAuto="0" spid="204" grpId="3"/>
      <p:bldP build="whole" bldLvl="1" animBg="1" rev="0" advAuto="0" spid="206" grpId="10"/>
      <p:bldP build="whole" bldLvl="1" animBg="1" rev="0" advAuto="0" spid="205" grpId="11"/>
      <p:bldP build="whole" bldLvl="1" animBg="1" rev="0" advAuto="0" spid="200" grpId="4"/>
      <p:bldP build="whole" bldLvl="1" animBg="1" rev="0" advAuto="0" spid="207" grpId="12"/>
      <p:bldP build="whole" bldLvl="1" animBg="1" rev="0" advAuto="0" spid="204" grpId="8"/>
      <p:bldP build="whole" bldLvl="1" animBg="1" rev="0" advAuto="0" spid="202" grpId="2"/>
      <p:bldP build="whole" bldLvl="1" animBg="1" rev="0" advAuto="0" spid="208" grpId="13"/>
      <p:bldP build="whole" bldLvl="1" animBg="1" rev="0" advAuto="0" spid="201" grpId="15"/>
      <p:bldP build="whole" bldLvl="1" animBg="1" rev="0" advAuto="0" spid="202" grpId="6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hashcat (v6.1.1) starting...…"/>
          <p:cNvSpPr txBox="1"/>
          <p:nvPr/>
        </p:nvSpPr>
        <p:spPr>
          <a:xfrm>
            <a:off x="735330" y="3279613"/>
            <a:ext cx="22913341" cy="5678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400"/>
            </a:pPr>
            <a:r>
              <a:t>hashcat (v6.1.1) starting...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OpenCL API (OpenCL 1.2) - Platform #1 [Advanced Micro Devices, Inc.]</a:t>
            </a:r>
          </a:p>
          <a:p>
            <a:pPr>
              <a:defRPr sz="4400"/>
            </a:pPr>
            <a:r>
              <a:t>====================================================================</a:t>
            </a:r>
          </a:p>
          <a:p>
            <a:pPr>
              <a:defRPr sz="4400"/>
            </a:pPr>
            <a:r>
              <a:t>* Device #1: AMD Radeon RX 5700 XT, 2048/8192 MB allocatable, 40MCU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Hashes: 1 digests; 1 unique digests, 1 unique salts</a:t>
            </a:r>
          </a:p>
          <a:p>
            <a:pPr>
              <a:defRPr sz="4400"/>
            </a:pPr>
            <a:r>
              <a:t>Bitmaps: 16 bits, 65536 entries, 0x0000ffff mask, 262144 bytes, 5/13 rotates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Appl optimizers...</a:t>
            </a:r>
          </a:p>
          <a:p>
            <a:pPr>
              <a:defRPr sz="4400"/>
            </a:pPr>
            <a:r>
              <a:t>* Zero-Byte</a:t>
            </a:r>
          </a:p>
          <a:p>
            <a:pPr>
              <a:defRPr sz="4400"/>
            </a:pPr>
            <a:r>
              <a:t>* Single-Hash</a:t>
            </a:r>
          </a:p>
          <a:p>
            <a:pPr>
              <a:defRPr sz="4400"/>
            </a:pPr>
            <a:r>
              <a:t>* Single-Salt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Watchdog: Temperature abort trigger set to 90c</a:t>
            </a:r>
          </a:p>
          <a:p>
            <a:pPr>
              <a:defRPr sz="4400"/>
            </a:pPr>
            <a:r>
              <a:t>Watchdog: Temperature retain trigger disabled.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s3ss1on 51: starting, running...</a:t>
            </a:r>
          </a:p>
          <a:p>
            <a:pPr>
              <a:defRPr sz="4400"/>
            </a:pPr>
            <a:r>
              <a:t>s3ss1on 51: cracker, running...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Input.Mode: Dict (dictionary.txt)</a:t>
            </a:r>
          </a:p>
          <a:p>
            <a:pPr>
              <a:defRPr sz="4400"/>
            </a:pPr>
            <a:r>
              <a:t>Index.....: 1/1 (segment), 1000000 (words), 0 (bytes)</a:t>
            </a:r>
          </a:p>
          <a:p>
            <a:pPr>
              <a:defRPr sz="4400"/>
            </a:pPr>
            <a:r>
              <a:t>Recovered.: 0/1 (0.00%) Digests, 0/1 (0.00%) Salts</a:t>
            </a:r>
          </a:p>
          <a:p>
            <a:pPr>
              <a:defRPr sz="4400"/>
            </a:pPr>
            <a:r>
              <a:t>Progress..: 0/1000000 (0.00%)</a:t>
            </a:r>
          </a:p>
          <a:p>
            <a:pPr>
              <a:defRPr sz="4400"/>
            </a:pPr>
            <a:r>
              <a:t>Rejected..: 0/0 (0.00%)</a:t>
            </a:r>
          </a:p>
          <a:p>
            <a:pPr>
              <a:defRPr sz="4400"/>
            </a:pPr>
            <a:r>
              <a:t>Restore...: 0/1 (0.00%) Cands, 0/1 (0.00%) Salts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Speed.#1.....:    100000 H/s (0.00ms) @ Accel:1024 Loops:1 Thr:1 Vec:8</a:t>
            </a:r>
          </a:p>
          <a:p>
            <a:pPr>
              <a:defRPr sz="4400"/>
            </a:pPr>
            <a:r>
              <a:t>Recovered...: 0/1 (0.00%) Digests, 0/1 (0.00%) Salts</a:t>
            </a:r>
          </a:p>
          <a:p>
            <a:pPr>
              <a:defRPr sz="4400"/>
            </a:pPr>
            <a:r>
              <a:t>Progress...: 1000000/1000000 (100.00%)</a:t>
            </a:r>
          </a:p>
          <a:p>
            <a:pPr>
              <a:defRPr sz="4400"/>
            </a:pPr>
            <a:r>
              <a:t>Time.Started.: Tue Oct 17 12:00:00 2025 (1 sec)</a:t>
            </a:r>
          </a:p>
          <a:p>
            <a:pPr>
              <a:defRPr sz="4400"/>
            </a:pPr>
            <a:r>
              <a:t>Time.Estimated.: Tue Oct 17 12:00:01 2025 (0 secs)</a:t>
            </a:r>
          </a:p>
          <a:p>
            <a:pPr>
              <a:defRPr sz="4400"/>
            </a:pPr>
            <a:r>
              <a:t>Guess.Base...: File (dictionary.txt)</a:t>
            </a:r>
          </a:p>
          <a:p>
            <a:pPr>
              <a:defRPr sz="4400"/>
            </a:pPr>
            <a:r>
              <a:t>Guess.Queue...: 1/1 (100.00%)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s3ss1on 51: cracked, running...</a:t>
            </a:r>
          </a:p>
          <a:p>
            <a:pPr>
              <a:defRPr sz="4400"/>
            </a:pPr>
            <a:r>
              <a:t>s3ss1on 51: done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Input.Mode: Mask (?a?a?a?a?a?a) [6]</a:t>
            </a:r>
          </a:p>
          <a:p>
            <a:pPr>
              <a:defRPr sz="4400"/>
            </a:pPr>
            <a:r>
              <a:t>Index.....: 1/1 (segment), 1 (words), 0 (bytes)</a:t>
            </a:r>
          </a:p>
          <a:p>
            <a:pPr>
              <a:defRPr sz="4400"/>
            </a:pPr>
            <a:r>
              <a:t>Recovered.: 1/1 (100.00%) Digests, 1/1 (100.00%) Salts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Started: Tue Oct 17 12:00:00 2025</a:t>
            </a:r>
          </a:p>
          <a:p>
            <a:pPr>
              <a:defRPr sz="4400"/>
            </a:pPr>
            <a:r>
              <a:t>Stopped.: Tue Oct 17 12:00:02 2025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Recovered Passwords</a:t>
            </a:r>
          </a:p>
          <a:p>
            <a:pPr>
              <a:defRPr sz="4400"/>
            </a:pPr>
            <a:r>
              <a:t>===================</a:t>
            </a:r>
          </a:p>
          <a:p>
            <a:pPr>
              <a:defRPr sz="4400"/>
            </a:pPr>
          </a:p>
          <a:p>
            <a:pPr>
              <a:defRPr sz="4400"/>
            </a:pPr>
            <a:r>
              <a:t>Hash1:helloworld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000 -3.490770" origin="layout" pathEditMode="relative">
                                      <p:cBhvr>
                                        <p:cTn id="6" dur="5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estionnaires de mots de passe"/>
          <p:cNvSpPr txBox="1"/>
          <p:nvPr>
            <p:ph type="ctrTitle"/>
          </p:nvPr>
        </p:nvSpPr>
        <p:spPr>
          <a:xfrm>
            <a:off x="571496" y="314391"/>
            <a:ext cx="15819640" cy="1884692"/>
          </a:xfrm>
          <a:prstGeom prst="rect">
            <a:avLst/>
          </a:prstGeom>
        </p:spPr>
        <p:txBody>
          <a:bodyPr/>
          <a:lstStyle>
            <a:lvl1pPr defTabSz="438911">
              <a:lnSpc>
                <a:spcPct val="120000"/>
              </a:lnSpc>
              <a:defRPr b="0" spc="0" sz="8256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Gestionnaires de mots de passe</a:t>
            </a:r>
          </a:p>
        </p:txBody>
      </p:sp>
      <p:sp>
        <p:nvSpPr>
          <p:cNvPr id="213" name="Disponible en tant que extension de navigateur et application sur mobile"/>
          <p:cNvSpPr txBox="1"/>
          <p:nvPr/>
        </p:nvSpPr>
        <p:spPr>
          <a:xfrm>
            <a:off x="358325" y="2930619"/>
            <a:ext cx="19475806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lvl1pPr>
          </a:lstStyle>
          <a:p>
            <a:pPr/>
            <a:r>
              <a:t>Disponible en tant que extension de navigateur et application sur mobile </a:t>
            </a:r>
          </a:p>
        </p:txBody>
      </p:sp>
      <p:pic>
        <p:nvPicPr>
          <p:cNvPr id="214" name="1-capture_page_appli.png" descr="1-capture_page_appli.png"/>
          <p:cNvPicPr>
            <a:picLocks noChangeAspect="1"/>
          </p:cNvPicPr>
          <p:nvPr/>
        </p:nvPicPr>
        <p:blipFill>
          <a:blip r:embed="rId2">
            <a:extLst/>
          </a:blip>
          <a:srcRect l="0" t="10847" r="0" b="0"/>
          <a:stretch>
            <a:fillRect/>
          </a:stretch>
        </p:blipFill>
        <p:spPr>
          <a:xfrm>
            <a:off x="-258366" y="4576557"/>
            <a:ext cx="24900746" cy="116085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estionnaires de mots de passe"/>
          <p:cNvSpPr txBox="1"/>
          <p:nvPr>
            <p:ph type="ctrTitle"/>
          </p:nvPr>
        </p:nvSpPr>
        <p:spPr>
          <a:xfrm>
            <a:off x="571496" y="314391"/>
            <a:ext cx="8824917" cy="2236521"/>
          </a:xfrm>
          <a:prstGeom prst="rect">
            <a:avLst/>
          </a:prstGeom>
        </p:spPr>
        <p:txBody>
          <a:bodyPr/>
          <a:lstStyle>
            <a:lvl1pPr defTabSz="301752">
              <a:lnSpc>
                <a:spcPct val="120000"/>
              </a:lnSpc>
              <a:defRPr b="0" spc="0" sz="5676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Gestionnaires de mots de passe</a:t>
            </a:r>
          </a:p>
        </p:txBody>
      </p:sp>
      <p:sp>
        <p:nvSpPr>
          <p:cNvPr id="217" name="Une fois le compte crée:…"/>
          <p:cNvSpPr txBox="1"/>
          <p:nvPr/>
        </p:nvSpPr>
        <p:spPr>
          <a:xfrm>
            <a:off x="637725" y="4182839"/>
            <a:ext cx="11476356" cy="3591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Une fois le compte crée: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Bitwarden peut créer automatiquement :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Des mot de passe aléatoire</a:t>
            </a:r>
          </a:p>
        </p:txBody>
      </p:sp>
      <p:pic>
        <p:nvPicPr>
          <p:cNvPr id="218" name="6-générateur_mdp.png" descr="6-générateur_mdp.png"/>
          <p:cNvPicPr>
            <a:picLocks noChangeAspect="1"/>
          </p:cNvPicPr>
          <p:nvPr/>
        </p:nvPicPr>
        <p:blipFill>
          <a:blip r:embed="rId2">
            <a:extLst/>
          </a:blip>
          <a:srcRect l="0" t="4146" r="0" b="779"/>
          <a:stretch>
            <a:fillRect/>
          </a:stretch>
        </p:blipFill>
        <p:spPr>
          <a:xfrm>
            <a:off x="15543552" y="-935103"/>
            <a:ext cx="7470436" cy="174899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estionnaires de mots de passe"/>
          <p:cNvSpPr txBox="1"/>
          <p:nvPr>
            <p:ph type="ctrTitle"/>
          </p:nvPr>
        </p:nvSpPr>
        <p:spPr>
          <a:xfrm>
            <a:off x="571496" y="314391"/>
            <a:ext cx="8824917" cy="2236521"/>
          </a:xfrm>
          <a:prstGeom prst="rect">
            <a:avLst/>
          </a:prstGeom>
        </p:spPr>
        <p:txBody>
          <a:bodyPr/>
          <a:lstStyle>
            <a:lvl1pPr defTabSz="301752">
              <a:lnSpc>
                <a:spcPct val="120000"/>
              </a:lnSpc>
              <a:defRPr b="0" spc="0" sz="5676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Gestionnaires de mots de passe</a:t>
            </a:r>
          </a:p>
        </p:txBody>
      </p:sp>
      <p:sp>
        <p:nvSpPr>
          <p:cNvPr id="221" name="Une fois le compte crée:…"/>
          <p:cNvSpPr txBox="1"/>
          <p:nvPr/>
        </p:nvSpPr>
        <p:spPr>
          <a:xfrm>
            <a:off x="637725" y="3415759"/>
            <a:ext cx="11476356" cy="624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Une fois le compte crée: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Bitwarden peut créer automatiquement :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Des mot de passe aléatoire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Des phrase de passe</a:t>
            </a:r>
          </a:p>
        </p:txBody>
      </p:sp>
      <p:pic>
        <p:nvPicPr>
          <p:cNvPr id="222" name="6-générateur_mdp.png" descr="6-générateur_mdp.png"/>
          <p:cNvPicPr>
            <a:picLocks noChangeAspect="1"/>
          </p:cNvPicPr>
          <p:nvPr/>
        </p:nvPicPr>
        <p:blipFill>
          <a:blip r:embed="rId2">
            <a:extLst/>
          </a:blip>
          <a:srcRect l="0" t="4146" r="0" b="779"/>
          <a:stretch>
            <a:fillRect/>
          </a:stretch>
        </p:blipFill>
        <p:spPr>
          <a:xfrm>
            <a:off x="15543552" y="-935103"/>
            <a:ext cx="7470436" cy="174899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estionnaires de mots de passe"/>
          <p:cNvSpPr txBox="1"/>
          <p:nvPr>
            <p:ph type="ctrTitle"/>
          </p:nvPr>
        </p:nvSpPr>
        <p:spPr>
          <a:xfrm>
            <a:off x="571496" y="314391"/>
            <a:ext cx="8824917" cy="2236521"/>
          </a:xfrm>
          <a:prstGeom prst="rect">
            <a:avLst/>
          </a:prstGeom>
        </p:spPr>
        <p:txBody>
          <a:bodyPr/>
          <a:lstStyle>
            <a:lvl1pPr defTabSz="301752">
              <a:lnSpc>
                <a:spcPct val="120000"/>
              </a:lnSpc>
              <a:defRPr b="0" spc="0" sz="5676">
                <a:latin typeface="Red Hat Display Light Medium"/>
                <a:ea typeface="Red Hat Display Light Medium"/>
                <a:cs typeface="Red Hat Display Light Medium"/>
                <a:sym typeface="Red Hat Display Light Medium"/>
              </a:defRPr>
            </a:lvl1pPr>
          </a:lstStyle>
          <a:p>
            <a:pPr/>
            <a:r>
              <a:t>Gestionnaires de mots de passe</a:t>
            </a:r>
          </a:p>
        </p:txBody>
      </p:sp>
      <p:sp>
        <p:nvSpPr>
          <p:cNvPr id="225" name="Une fois le compte crée:…"/>
          <p:cNvSpPr txBox="1"/>
          <p:nvPr/>
        </p:nvSpPr>
        <p:spPr>
          <a:xfrm>
            <a:off x="612325" y="3641819"/>
            <a:ext cx="11476356" cy="75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Une fois le compte crée: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Bitwarden peut créer automatiquement :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Des mot de passe aléatoire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Des phrase de passe</a:t>
            </a:r>
          </a:p>
          <a:p>
            <a:pPr>
              <a:defRPr sz="5000">
                <a:latin typeface="Red Hat Display Light Regular"/>
                <a:ea typeface="Red Hat Display Light Regular"/>
                <a:cs typeface="Red Hat Display Light Regular"/>
                <a:sym typeface="Red Hat Display Light Regular"/>
              </a:defRPr>
            </a:pPr>
            <a:r>
              <a:t>Et des nom d’utilisateur</a:t>
            </a:r>
          </a:p>
        </p:txBody>
      </p:sp>
      <p:pic>
        <p:nvPicPr>
          <p:cNvPr id="226" name="6-générateur_mdp.png" descr="6-générateur_mdp.png"/>
          <p:cNvPicPr>
            <a:picLocks noChangeAspect="1"/>
          </p:cNvPicPr>
          <p:nvPr/>
        </p:nvPicPr>
        <p:blipFill>
          <a:blip r:embed="rId2">
            <a:extLst/>
          </a:blip>
          <a:srcRect l="0" t="4146" r="0" b="779"/>
          <a:stretch>
            <a:fillRect/>
          </a:stretch>
        </p:blipFill>
        <p:spPr>
          <a:xfrm>
            <a:off x="15543552" y="-935103"/>
            <a:ext cx="7470436" cy="174899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M"/>
          <p:cNvSpPr txBox="1"/>
          <p:nvPr/>
        </p:nvSpPr>
        <p:spPr>
          <a:xfrm>
            <a:off x="7077619" y="5000457"/>
            <a:ext cx="2961945" cy="415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200">
                <a:latin typeface="Pacifico Regular"/>
                <a:ea typeface="Pacifico Regular"/>
                <a:cs typeface="Pacifico Regular"/>
                <a:sym typeface="Pacifico Regular"/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229" name="E"/>
          <p:cNvSpPr txBox="1"/>
          <p:nvPr/>
        </p:nvSpPr>
        <p:spPr>
          <a:xfrm>
            <a:off x="10154614" y="5000457"/>
            <a:ext cx="1699921" cy="415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200">
                <a:latin typeface="Pacifico Regular"/>
                <a:ea typeface="Pacifico Regular"/>
                <a:cs typeface="Pacifico Regular"/>
                <a:sym typeface="Pacifico Regular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30" name="R"/>
          <p:cNvSpPr txBox="1"/>
          <p:nvPr/>
        </p:nvSpPr>
        <p:spPr>
          <a:xfrm>
            <a:off x="11969584" y="5000457"/>
            <a:ext cx="2148333" cy="415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200">
                <a:latin typeface="Pacifico Regular"/>
                <a:ea typeface="Pacifico Regular"/>
                <a:cs typeface="Pacifico Regular"/>
                <a:sym typeface="Pacifico Regular"/>
              </a:defRPr>
            </a:lvl1pPr>
          </a:lstStyle>
          <a:p>
            <a:pPr/>
            <a:r>
              <a:t>R</a:t>
            </a:r>
          </a:p>
        </p:txBody>
      </p:sp>
      <p:sp>
        <p:nvSpPr>
          <p:cNvPr id="231" name="C"/>
          <p:cNvSpPr txBox="1"/>
          <p:nvPr/>
        </p:nvSpPr>
        <p:spPr>
          <a:xfrm>
            <a:off x="14232966" y="5000457"/>
            <a:ext cx="1699922" cy="415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200">
                <a:latin typeface="Pacifico Regular"/>
                <a:ea typeface="Pacifico Regular"/>
                <a:cs typeface="Pacifico Regular"/>
                <a:sym typeface="Pacifico Regular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32" name="I"/>
          <p:cNvSpPr txBox="1"/>
          <p:nvPr/>
        </p:nvSpPr>
        <p:spPr>
          <a:xfrm>
            <a:off x="16047938" y="5000457"/>
            <a:ext cx="1258444" cy="415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200">
                <a:latin typeface="Pacifico Regular"/>
                <a:ea typeface="Pacifico Regular"/>
                <a:cs typeface="Pacifico Regular"/>
                <a:sym typeface="Pacifico Regular"/>
              </a:defRPr>
            </a:lvl1pPr>
          </a:lstStyle>
          <a:p>
            <a:pPr/>
            <a:r>
              <a:t>I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Class="entr" nodeType="afterEffect" presetSubtype="2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5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Class="entr" nodeType="afterEffect" presetSubtype="32" presetID="4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9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Class="entr" nodeType="afterEffect" presetSubtype="12" presetID="18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>
                                        <p:cTn id="23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8" grpId="1"/>
      <p:bldP build="whole" bldLvl="1" animBg="1" rev="0" advAuto="0" spid="229" grpId="2"/>
      <p:bldP build="whole" bldLvl="1" animBg="1" rev="0" advAuto="0" spid="231" grpId="4"/>
      <p:bldP build="whole" bldLvl="1" animBg="1" rev="0" advAuto="0" spid="230" grpId="3"/>
      <p:bldP build="whole" bldLvl="1" animBg="1" rev="0" advAuto="0" spid="232" grpId="5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